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2964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ABAB"/>
    <a:srgbClr val="FF0003"/>
    <a:srgbClr val="000000"/>
    <a:srgbClr val="42B4E6"/>
    <a:srgbClr val="76B900"/>
    <a:srgbClr val="F27E3D"/>
    <a:srgbClr val="FFC726"/>
    <a:srgbClr val="FBBA43"/>
    <a:srgbClr val="FEB739"/>
    <a:srgbClr val="F6B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6523"/>
    <p:restoredTop sz="94688"/>
  </p:normalViewPr>
  <p:slideViewPr>
    <p:cSldViewPr snapToGrid="0">
      <p:cViewPr varScale="1">
        <p:scale>
          <a:sx d="100" n="116"/>
          <a:sy d="100" n="116"/>
        </p:scale>
        <p:origin x="608" y="184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4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23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22" Type="http://schemas.openxmlformats.org/officeDocument/2006/relationships/viewProps" Target="viewProps.xml" /><Relationship Id="rId25" Type="http://schemas.microsoft.com/office/2015/10/relationships/revisionInfo" Target="revisionInfo.xml" /><Relationship Id="rId3" Type="http://schemas.openxmlformats.org/officeDocument/2006/relationships/customXml" Target="../customXml/item3.xml" /><Relationship Id="rId20" Type="http://schemas.openxmlformats.org/officeDocument/2006/relationships/commentAuthors" Target="commentAuthors.xml" /><Relationship Id="rId1" Type="http://schemas.openxmlformats.org/officeDocument/2006/relationships/customXml" Target="../customXml/item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Opening script for the title slide. Mention the audience, the goal of the deck, and the expected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this slide to frame the presentation in under one minute.</a:t>
            </a:r>
          </a:p>
          <a:p>
            <a:pPr lvl="0" indent="0" marL="0">
              <a:buNone/>
            </a:pPr>
          </a:p>
          <a:p>
            <a:pPr lvl="0"/>
            <a:r>
              <a:rPr/>
              <a:t>Why this matters now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decision is needed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the audience should remember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 out the one row that needs attention.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If a table becomes hard to read, split it across multiple slides or convert it into a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is a good place to explain any team-specific conventions: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file naming</a:t>
            </a:r>
          </a:p>
          <a:p>
            <a:pPr lvl="0" indent="0" marL="0">
              <a:buNone/>
            </a:pPr>
          </a:p>
          <a:p>
            <a:pPr lvl="0"/>
            <a:r>
              <a:rPr/>
              <a:t>ownership</a:t>
            </a:r>
          </a:p>
          <a:p>
            <a:pPr lvl="0" indent="0" marL="0">
              <a:buNone/>
            </a:pPr>
          </a:p>
          <a:p>
            <a:pPr lvl="0"/>
            <a:r>
              <a:rPr/>
              <a:t>review process</a:t>
            </a:r>
          </a:p>
          <a:p>
            <a:pPr lvl="0" indent="0" marL="0">
              <a:buNone/>
            </a:pPr>
          </a:p>
          <a:p>
            <a:pPr lvl="0"/>
            <a:r>
              <a:rPr/>
              <a:t>release cadence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52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arget="../slideLayouts/slideLayout3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media/image1.png" Type="http://schemas.openxmlformats.org/officeDocument/2006/relationships/image" /><Relationship Id="rId5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8" Target="../slideLayouts/slideLayout5.xml" Type="http://schemas.openxmlformats.org/officeDocument/2006/relationships/slideLayout" /><Relationship Id="rId7" Target="../slideLayouts/slideLayout8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7B8B-1BB9-4A49-9527-01F841AF860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81965" y="1196994"/>
            <a:ext cx="11451665" cy="536585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FCA21-F1CE-8243-8FFE-DAE61EC934CC}"/>
              </a:ext>
            </a:extLst>
          </p:cNvPr>
          <p:cNvSpPr/>
          <p:nvPr userDrawn="1"/>
        </p:nvSpPr>
        <p:spPr>
          <a:xfrm>
            <a:off x="0" y="6757162"/>
            <a:ext cx="12192000" cy="100838"/>
          </a:xfrm>
          <a:prstGeom prst="rect">
            <a:avLst/>
          </a:prstGeom>
          <a:solidFill>
            <a:srgbClr val="22B2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4" y="6259416"/>
            <a:ext cx="1920804" cy="490059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732857" y="6467317"/>
            <a:ext cx="335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fld id="{AF3AA542-DB4C-461E-BDD9-16882CC060AE}" type="slidenum">
              <a:rPr lang="en-US" smtClean="0" sz="1000">
                <a:solidFill>
                  <a:schemeClr val="bg1">
                    <a:lumMod val="50000"/>
                  </a:schemeClr>
                </a:solidFill>
                <a:latin charset="0" panose="020F0502020204030204" pitchFamily="34" typeface="Calibri"/>
                <a:cs charset="0" panose="020F0502020204030204" pitchFamily="34" typeface="Calibri"/>
              </a:rPr>
              <a:pPr lvl="0"/>
              <a:t>‹#›</a:t>
            </a:fld>
            <a:endParaRPr lang="en-US" sz="1000">
              <a:solidFill>
                <a:schemeClr val="bg1">
                  <a:lumMod val="50000"/>
                </a:schemeClr>
              </a:solidFill>
              <a:latin charset="0" panose="020F0502020204030204" pitchFamily="34" typeface="Calibri"/>
              <a:cs charset="0" panose="020F0502020204030204" pitchFamily="34" typeface="Calibri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 txBox="1">
            <a:spLocks/>
          </p:cNvSpPr>
          <p:nvPr userDrawn="1"/>
        </p:nvSpPr>
        <p:spPr>
          <a:xfrm>
            <a:off x="4077256" y="6570532"/>
            <a:ext cx="4061081" cy="2326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 lnSpcReduction="1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kern="1200" sz="40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00"/>
              <a:t>CONFIDENTIAL – RDK Management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 sz="675">
              <a:latin charset="0" panose="020F0704030504030204" pitchFamily="34" typeface="Arial Rounded MT Bold"/>
            </a:endParaRPr>
          </a:p>
        </p:txBody>
      </p:sp>
    </p:spTree>
    <p:extLst>
      <p:ext uri="{BB962C8B-B14F-4D97-AF65-F5344CB8AC3E}">
        <p14:creationId xmlns:p14="http://schemas.microsoft.com/office/powerpoint/2010/main" val="2233581214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1" r:id="rId1"/>
    <p:sldLayoutId id="2147483650" r:id="rId2"/>
    <p:sldLayoutId id="2147483654" r:id="rId3"/>
    <p:sldLayoutId id="2147483655" r:id="rId4"/>
    <p:sldLayoutId id="2147483657" r:id="rId8"/>
    <p:sldLayoutId id="2147483656" r:id="rId7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Markdown Template For PowerPoint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Reusable patterns and best practices for pandoc-based slide decks.</a:t>
            </a:r>
            <a:br/>
            <a:br/>
            <a:r>
              <a:rPr/>
              <a:t>Daniel Soden</a:t>
            </a:r>
            <a:br/>
            <a:r>
              <a:rPr/>
              <a:t>Comcast/RDK/RDKM/CMF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State the problem, decision, or proposal in one sentence.</a:t>
            </a:r>
          </a:p>
          <a:p>
            <a:pPr lvl="0"/>
            <a:r>
              <a:rPr/>
              <a:t>Put the most important takeaway in the first three bullets.</a:t>
            </a:r>
          </a:p>
          <a:p>
            <a:pPr lvl="0"/>
            <a:r>
              <a:rPr/>
              <a:t>Keep each bullet short enough to fit on one line when possible.</a:t>
            </a:r>
          </a:p>
          <a:p>
            <a:pPr lvl="0"/>
            <a:r>
              <a:rPr/>
              <a:t>Use speaker notes for detail instead of overloading the slide.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This Template Maps To PowerPoint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Document metadata builds the title slide.</a:t>
            </a:r>
          </a:p>
          <a:p>
            <a:pPr lvl="0"/>
            <a:r>
              <a:rPr/>
              <a:t>Level 1 headings create section header slides.</a:t>
            </a:r>
          </a:p>
          <a:p>
            <a:pPr lvl="0"/>
            <a:r>
              <a:rPr/>
              <a:t>Level 2 headings create normal content slides.</a:t>
            </a:r>
          </a:p>
          <a:p>
            <a:pPr lvl="1"/>
            <a:r>
              <a:rPr/>
              <a:t>A </a:t>
            </a:r>
            <a:r>
              <a:rPr>
                <a:latin typeface="Aptos Mono"/>
              </a:rPr>
              <a:t>columns</a:t>
            </a:r>
            <a:r>
              <a:rPr/>
              <a:t> container triggers a two-column PowerPoint layout.</a:t>
            </a:r>
          </a:p>
          <a:p>
            <a:pPr lvl="1"/>
            <a:r>
              <a:rPr/>
              <a:t>Text followed by a table or image can trigger a caption-oriented layout.</a:t>
            </a:r>
          </a:p>
          <a:p>
            <a:pPr lvl="0"/>
            <a:r>
              <a:rPr/>
              <a:t>A </a:t>
            </a:r>
            <a:r>
              <a:rPr>
                <a:latin typeface="Aptos Mono"/>
              </a:rPr>
              <a:t>notes</a:t>
            </a:r>
            <a:r>
              <a:rPr/>
              <a:t> container becomes speaker notes in PowerPoint.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file is designed for </a:t>
            </a:r>
            <a:r>
              <a:rPr>
                <a:latin typeface="Aptos Mono"/>
              </a:rPr>
              <a:t>pandoc input.md -t pptx --reference-doc=reference.pptx -o output.pptx</a:t>
            </a:r>
            <a:r>
              <a:rPr/>
              <a:t>.</a:t>
            </a:r>
          </a:p>
          <a:p>
            <a:pPr lvl="0"/>
            <a:r>
              <a:rPr/>
              <a:t>Your reference deck should define these layout names: Title Slide, Title and Content, Section Header, Two Content, Comparison, Content with Caption, and Blank.</a:t>
            </a:r>
          </a:p>
          <a:p>
            <a:pPr lvl="0"/>
            <a:r>
              <a:rPr/>
              <a:t>Prefer relative paths for local media so the GitHub Action can resolve them consistently.</a:t>
            </a:r>
          </a:p>
          <a:p>
            <a:pPr lvl="0"/>
            <a:r>
              <a:rPr/>
              <a:t>Avoid raw HTML and format-specific hacks unless you also control the conversion command.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Content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Content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this pattern for status, decisions, risks, and next steps.</a:t>
            </a:r>
          </a:p>
          <a:p>
            <a:pPr lvl="0"/>
            <a:r>
              <a:rPr/>
              <a:t>Put supporting detail in notes, appendices, or backup slides.</a:t>
            </a:r>
          </a:p>
          <a:p>
            <a:pPr lvl="0"/>
            <a:r>
              <a:rPr/>
              <a:t>Favor one idea per slide over dense mixed content.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Suggested Structure</a:t>
            </a:r>
          </a:p>
          <a:p>
            <a:pPr lvl="0" indent="-457200" marL="457200">
              <a:buAutoNum type="arabicPeriod"/>
            </a:pPr>
            <a:r>
              <a:rPr/>
              <a:t>Headline with the conclusion.</a:t>
            </a:r>
          </a:p>
          <a:p>
            <a:pPr lvl="0" indent="-457200" marL="457200">
              <a:buAutoNum type="arabicPeriod"/>
            </a:pPr>
            <a:r>
              <a:rPr/>
              <a:t>Two to four supporting points.</a:t>
            </a:r>
          </a:p>
          <a:p>
            <a:pPr lvl="0" indent="-457200" marL="457200">
              <a:buAutoNum type="arabicPeriod"/>
            </a:pPr>
            <a:r>
              <a:rPr/>
              <a:t>One visual, metric, or decision if needed.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Incremental Talking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First point the audience should absorb.</a:t>
            </a:r>
          </a:p>
          <a:p>
            <a:pPr lvl="0"/>
            <a:r>
              <a:rPr/>
              <a:t>Second point that builds on the first.</a:t>
            </a:r>
          </a:p>
          <a:p>
            <a:pPr lvl="0"/>
            <a:r>
              <a:rPr/>
              <a:t>Third point that leads into the recommendation.</a:t>
            </a:r>
          </a:p>
          <a:p>
            <a:pPr lvl="0" indent="0" marL="0">
              <a:buNone/>
            </a:pPr>
            <a:r>
              <a:rPr/>
              <a:t>Use incremental lists sparingly. They work best for paced narration, not dense reference slides.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Aptos Mono"/>
              </a:rPr>
              <a:t>from</a:t>
            </a:r>
            <a:r>
              <a:rPr>
                <a:latin typeface="Aptos Mono"/>
              </a:rPr>
              <a:t> pathlib </a:t>
            </a:r>
            <a:r>
              <a:rPr b="1">
                <a:solidFill>
                  <a:srgbClr val="008000"/>
                </a:solidFill>
                <a:latin typeface="Aptos Mono"/>
              </a:rPr>
              <a:t>import</a:t>
            </a:r>
            <a:r>
              <a:rPr>
                <a:latin typeface="Aptos Mono"/>
              </a:rPr>
              <a:t> Path</a:t>
            </a:r>
            <a:br/>
            <a:br/>
            <a:r>
              <a:rPr b="1">
                <a:solidFill>
                  <a:srgbClr val="007020"/>
                </a:solidFill>
                <a:latin typeface="Aptos Mono"/>
              </a:rPr>
              <a:t>for</a:t>
            </a:r>
            <a:r>
              <a:rPr>
                <a:latin typeface="Aptos Mono"/>
              </a:rPr>
              <a:t> slide_file </a:t>
            </a:r>
            <a:r>
              <a:rPr b="1">
                <a:solidFill>
                  <a:srgbClr val="007020"/>
                </a:solidFill>
                <a:latin typeface="Aptos Mono"/>
              </a:rPr>
              <a:t>in</a:t>
            </a:r>
            <a:r>
              <a:rPr>
                <a:latin typeface="Aptos Mono"/>
              </a:rPr>
              <a:t> </a:t>
            </a:r>
            <a:r>
              <a:rPr>
                <a:solidFill>
                  <a:srgbClr val="008000"/>
                </a:solidFill>
                <a:latin typeface="Aptos Mono"/>
              </a:rPr>
              <a:t>sorted</a:t>
            </a:r>
            <a:r>
              <a:rPr>
                <a:latin typeface="Aptos Mono"/>
              </a:rPr>
              <a:t>(Path(</a:t>
            </a:r>
            <a:r>
              <a:rPr>
                <a:solidFill>
                  <a:srgbClr val="4070A0"/>
                </a:solidFill>
                <a:latin typeface="Aptos Mono"/>
              </a:rPr>
              <a:t>"."</a:t>
            </a:r>
            <a:r>
              <a:rPr>
                <a:latin typeface="Aptos Mono"/>
              </a:rPr>
              <a:t>).glob(</a:t>
            </a:r>
            <a:r>
              <a:rPr>
                <a:solidFill>
                  <a:srgbClr val="4070A0"/>
                </a:solidFill>
                <a:latin typeface="Aptos Mono"/>
              </a:rPr>
              <a:t>"**/*slides*.md"</a:t>
            </a:r>
            <a:r>
              <a:rPr>
                <a:latin typeface="Aptos Mono"/>
              </a:rPr>
              <a:t>)):</a:t>
            </a:r>
            <a:br/>
            <a:r>
              <a:rPr>
                <a:latin typeface="Aptos Mono"/>
              </a:rPr>
              <a:t>    </a:t>
            </a:r>
            <a:r>
              <a:rPr>
                <a:solidFill>
                  <a:srgbClr val="008000"/>
                </a:solidFill>
                <a:latin typeface="Aptos Mono"/>
              </a:rPr>
              <a:t>print</a:t>
            </a:r>
            <a:r>
              <a:rPr>
                <a:latin typeface="Aptos Mono"/>
              </a:rPr>
              <a:t>(slide_file)</a:t>
            </a:r>
          </a:p>
          <a:p>
            <a:pPr lvl="0"/>
            <a:r>
              <a:rPr/>
              <a:t>Keep code-only slides short enough to read from the back of the room.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Slide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93800"/>
          <a:ext cx="114427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Next Milestone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Authoring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Docs 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 track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Draft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Design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At risk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Update reference deck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Platform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On track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 validation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381000" y="6045200"/>
            <a:ext cx="114427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Delivery status snapshot.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 And Quote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term</a:t>
            </a:r>
          </a:p>
          <a:p>
            <a:pPr lvl="0" indent="0" marL="1270000">
              <a:buNone/>
            </a:pPr>
            <a:r>
              <a:rPr sz="2000"/>
              <a:t>A short definition written in plain language.</a:t>
            </a:r>
          </a:p>
          <a:p>
            <a:pPr lvl="0" indent="0" marL="0">
              <a:buNone/>
            </a:pPr>
            <a:r>
              <a:rPr b="1"/>
              <a:t>Another term</a:t>
            </a:r>
          </a:p>
          <a:p>
            <a:pPr lvl="0" indent="0" marL="1270000">
              <a:buNone/>
            </a:pPr>
            <a:r>
              <a:rPr sz="2000"/>
              <a:t>A second definition when the audience needs shared vocabulary.</a:t>
            </a:r>
          </a:p>
          <a:p>
            <a:pPr lvl="0" indent="0" marL="1270000">
              <a:buNone/>
            </a:pPr>
            <a:r>
              <a:rPr sz="2000"/>
              <a:t>Use block quotes for a short source statement, customer quote, principle, or policy excerpt.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Layout Patterns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Two-Column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Left Column</a:t>
            </a:r>
          </a:p>
          <a:p>
            <a:pPr lvl="0"/>
            <a:r>
              <a:rPr/>
              <a:t>Main argument</a:t>
            </a:r>
          </a:p>
          <a:p>
            <a:pPr lvl="0"/>
            <a:r>
              <a:rPr/>
              <a:t>Supporting context</a:t>
            </a:r>
          </a:p>
          <a:p>
            <a:pPr lvl="0"/>
            <a:r>
              <a:rPr/>
              <a:t>Constraints or assumptions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Right Column</a:t>
            </a:r>
          </a:p>
          <a:p>
            <a:pPr lvl="0"/>
            <a:r>
              <a:rPr/>
              <a:t>Recommendation</a:t>
            </a:r>
          </a:p>
          <a:p>
            <a:pPr lvl="0"/>
            <a:r>
              <a:rPr/>
              <a:t>Expected outcome</a:t>
            </a:r>
          </a:p>
          <a:p>
            <a:pPr lvl="0"/>
            <a:r>
              <a:rPr/>
              <a:t>Owner and timing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Layout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State</a:t>
            </a:r>
          </a:p>
          <a:p>
            <a:pPr lvl="0"/>
            <a:r>
              <a:rPr/>
              <a:t>Manual updates</a:t>
            </a:r>
          </a:p>
          <a:p>
            <a:pPr lvl="0"/>
            <a:r>
              <a:rPr/>
              <a:t>Inconsistent formatting</a:t>
            </a:r>
          </a:p>
          <a:p>
            <a:pPr lvl="0"/>
            <a:r>
              <a:rPr/>
              <a:t>No shared reference deck</a:t>
            </a:r>
          </a:p>
          <a:p>
            <a:pPr lvl="0"/>
            <a:r>
              <a:rPr/>
              <a:t>Review friction across teams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Proposed State</a:t>
            </a:r>
          </a:p>
          <a:p>
            <a:pPr lvl="0"/>
            <a:r>
              <a:rPr/>
              <a:t>Reusable slide template</a:t>
            </a:r>
          </a:p>
          <a:p>
            <a:pPr lvl="0"/>
            <a:r>
              <a:rPr/>
              <a:t>GitHub Action conversion</a:t>
            </a:r>
          </a:p>
          <a:p>
            <a:pPr lvl="0"/>
            <a:r>
              <a:rPr/>
              <a:t>Reference-driven visuals</a:t>
            </a:r>
          </a:p>
          <a:p>
            <a:pPr lvl="0"/>
            <a:r>
              <a:rPr/>
              <a:t>Faster review and release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ADEC9B54-F34E-4EE1-9E57-D1E9C787AC02}" vid="{E8221FFC-3C89-4446-83CE-300989DB51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3708</Words>
  <Application>Microsoft Macintosh PowerPoint</Application>
  <PresentationFormat>Widescreen</PresentationFormat>
  <Paragraphs>611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Arial Rounded MT Bold</vt:lpstr>
      <vt:lpstr>Calibri</vt:lpstr>
      <vt:lpstr>Consolas</vt:lpstr>
      <vt:lpstr>Courier New</vt:lpstr>
      <vt:lpstr>XFINITY Standard</vt:lpstr>
      <vt:lpstr>Office Theme</vt:lpstr>
      <vt:lpstr>CMF On Boarding</vt:lpstr>
      <vt:lpstr>Overview</vt:lpstr>
      <vt:lpstr>RDKM Leadership Team</vt:lpstr>
      <vt:lpstr>RDKM Engineering Operations</vt:lpstr>
      <vt:lpstr>RDKM CMF Organisation</vt:lpstr>
      <vt:lpstr>Code Management Facility</vt:lpstr>
      <vt:lpstr>Code Management Functions</vt:lpstr>
      <vt:lpstr>CMF Onboarding</vt:lpstr>
      <vt:lpstr>CMF Onboarding</vt:lpstr>
      <vt:lpstr>Gerrit &amp; GitHub Setup</vt:lpstr>
      <vt:lpstr>Gerrit &amp; GitHub Setup</vt:lpstr>
      <vt:lpstr>Gerrit and GitHub Setup</vt:lpstr>
      <vt:lpstr>CMF Jenkins Instances</vt:lpstr>
      <vt:lpstr>Jenkins Setup</vt:lpstr>
      <vt:lpstr>CMF Internal Repositories</vt:lpstr>
      <vt:lpstr>Python &amp; Pyenv</vt:lpstr>
      <vt:lpstr>Jenkins Job &amp; Manual Script Workflow</vt:lpstr>
      <vt:lpstr>Key CMF Tools Repos</vt:lpstr>
      <vt:lpstr>Environment Setup</vt:lpstr>
      <vt:lpstr>Setting up a cmflib pyenv</vt:lpstr>
      <vt:lpstr>Setting up a cmf/tools pyenv workspace</vt:lpstr>
      <vt:lpstr>Working with cmf/tools</vt:lpstr>
      <vt:lpstr>Working with cmf/tools</vt:lpstr>
      <vt:lpstr>Builds &amp; CI</vt:lpstr>
      <vt:lpstr>Contributing Code </vt:lpstr>
      <vt:lpstr>Create a Gerrit Patchset/Review</vt:lpstr>
      <vt:lpstr>Update a Gerrit Review in a new clone</vt:lpstr>
      <vt:lpstr>Create a Github PR</vt:lpstr>
      <vt:lpstr>Development Process</vt:lpstr>
      <vt:lpstr>AWS CLI Setup and Getting a CMF Build Machine Instance</vt:lpstr>
      <vt:lpstr>Github &amp; Gerrit Metadata</vt:lpstr>
      <vt:lpstr>Create a Github PR on rdkcentral/metadata</vt:lpstr>
      <vt:lpstr>Create a Gerrit Review on cmf/metadata</vt:lpstr>
      <vt:lpstr>DSL Overview</vt:lpstr>
      <vt:lpstr>Community Jenkins DSL </vt:lpstr>
      <vt:lpstr>Internal Jenkins DSL </vt:lpstr>
      <vt:lpstr>RDKM Jenkins DSL </vt:lpstr>
      <vt:lpstr>Setting up a DSL workspace</vt:lpstr>
      <vt:lpstr>DSL API</vt:lpstr>
      <vt:lpstr>CMF Support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Markdown Template For PowerPoint Generation</dc:title>
  <dc:creator>Daniel Soden; Comcast/RDK/RDKM/CMF</dc:creator>
  <cp:keywords>pandoc, pptx, markdown</cp:keywords>
  <dc:subject>PowerPoint generation with pandoc</dc:subject>
  <dc:description>Reusable pandoc-first markdown template for PowerPoint generation.</dc:description>
  <dcterms:created xsi:type="dcterms:W3CDTF">2026-04-29T16:18:26Z</dcterms:created>
  <dcterms:modified xsi:type="dcterms:W3CDTF">2026-04-29T16:18:26Z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2026-04-28</vt:lpwstr>
  </property>
  <property fmtid="{D5CDD505-2E9C-101B-9397-08002B2CF9AE}" pid="3" name="monofont">
    <vt:lpwstr>Aptos Mono</vt:lpwstr>
  </property>
  <property fmtid="{D5CDD505-2E9C-101B-9397-08002B2CF9AE}" pid="4" name="notes">
    <vt:lpwstr>Opening script for the title slide. Mention the audience, the goal of the deck, and the expected outcome.</vt:lpwstr>
  </property>
  <property fmtid="{D5CDD505-2E9C-101B-9397-08002B2CF9AE}" pid="5" name="subtitle">
    <vt:lpwstr>Reusable patterns and best practices for pandoc-based slide decks.</vt:lpwstr>
  </property>
</Properties>
</file>