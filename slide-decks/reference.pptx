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Default Extension="jpeg" ContentType="image/jpe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 showSpecialPlsOnTitleSld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2964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ABAB"/>
    <a:srgbClr val="FF0003"/>
    <a:srgbClr val="000000"/>
    <a:srgbClr val="42B4E6"/>
    <a:srgbClr val="76B900"/>
    <a:srgbClr val="F27E3D"/>
    <a:srgbClr val="FFC726"/>
    <a:srgbClr val="FBBA43"/>
    <a:srgbClr val="FEB739"/>
    <a:srgbClr val="F6B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6523"/>
    <p:restoredTop sz="94688"/>
  </p:normalViewPr>
  <p:slideViewPr>
    <p:cSldViewPr snapToGrid="0">
      <p:cViewPr varScale="1">
        <p:scale>
          <a:sx d="100" n="116"/>
          <a:sy d="100" n="116"/>
        </p:scale>
        <p:origin x="608" y="184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0" Type="http://schemas.openxmlformats.org/officeDocument/2006/relationships/slide" Target="slides/slide16.xml" /><Relationship Id="rId21" Type="http://schemas.openxmlformats.org/officeDocument/2006/relationships/slide" Target="slides/slide17.xml" /><Relationship Id="rId23" Type="http://schemas.openxmlformats.org/officeDocument/2006/relationships/presProps" Target="presProps.xml" /><Relationship Id="rId26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25" Type="http://schemas.openxmlformats.org/officeDocument/2006/relationships/theme" Target="theme/theme1.xml" /><Relationship Id="rId4" Type="http://schemas.openxmlformats.org/officeDocument/2006/relationships/slideMaster" Target="slideMasters/slideMaster1.xml" /><Relationship Id="rId24" Type="http://schemas.openxmlformats.org/officeDocument/2006/relationships/viewProps" Target="viewProps.xml" /><Relationship Id="rId27" Type="http://schemas.microsoft.com/office/2015/10/relationships/revisionInfo" Target="revisionInfo.xml" /><Relationship Id="rId3" Type="http://schemas.openxmlformats.org/officeDocument/2006/relationships/customXml" Target="../customXml/item3.xml" /><Relationship Id="rId22" Type="http://schemas.openxmlformats.org/officeDocument/2006/relationships/commentAuthors" Target="commentAuthors.xml" /><Relationship Id="rId1" Type="http://schemas.openxmlformats.org/officeDocument/2006/relationships/customXml" Target="../customXml/item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" y="1018050"/>
            <a:ext cx="2904231" cy="68580"/>
          </a:xfrm>
          <a:prstGeom prst="rect">
            <a:avLst/>
          </a:prstGeom>
          <a:solidFill>
            <a:srgbClr val="42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095923" y="1018279"/>
            <a:ext cx="2904231" cy="68580"/>
          </a:xfrm>
          <a:prstGeom prst="rect">
            <a:avLst/>
          </a:prstGeom>
          <a:solidFill>
            <a:srgbClr val="FFC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191847" y="1020027"/>
            <a:ext cx="2904231" cy="685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9287770" y="1018280"/>
            <a:ext cx="2904231" cy="68580"/>
          </a:xfrm>
          <a:prstGeom prst="rect">
            <a:avLst/>
          </a:prstGeom>
          <a:solidFill>
            <a:srgbClr val="F27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52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B32B-EEC0-D94F-B705-D943DE19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1" y="1018050"/>
            <a:ext cx="2904231" cy="68580"/>
          </a:xfrm>
          <a:prstGeom prst="rect">
            <a:avLst/>
          </a:prstGeom>
          <a:solidFill>
            <a:srgbClr val="42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095923" y="1018279"/>
            <a:ext cx="2904231" cy="68580"/>
          </a:xfrm>
          <a:prstGeom prst="rect">
            <a:avLst/>
          </a:prstGeom>
          <a:solidFill>
            <a:srgbClr val="FFC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91847" y="1020027"/>
            <a:ext cx="2904231" cy="685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9287770" y="1018280"/>
            <a:ext cx="2904231" cy="68580"/>
          </a:xfrm>
          <a:prstGeom prst="rect">
            <a:avLst/>
          </a:prstGeom>
          <a:solidFill>
            <a:srgbClr val="F27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20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arget="../slideLayouts/slideLayout3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media/image1.png" Type="http://schemas.openxmlformats.org/officeDocument/2006/relationships/image" /><Relationship Id="rId5" Target="../theme/theme1.xml" Type="http://schemas.openxmlformats.org/officeDocument/2006/relationships/theme" /><Relationship Id="rId4" Target="../slideLayouts/slideLayout4.xml" Type="http://schemas.openxmlformats.org/officeDocument/2006/relationships/slideLayout" /><Relationship Id="rId8" Type="http://schemas.openxmlformats.org/officeDocument/2006/relationships/slideLayout" Target="../slideLayouts/slideLayout5.xml" /><Relationship Id="rId7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A696A-D6FC-B64A-8FBB-CAAE423A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65" y="365126"/>
            <a:ext cx="11451665" cy="645238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47B8B-1BB9-4A49-9527-01F841AF860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381965" y="1196994"/>
            <a:ext cx="11451665" cy="5365851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5FCA21-F1CE-8243-8FFE-DAE61EC934CC}"/>
              </a:ext>
            </a:extLst>
          </p:cNvPr>
          <p:cNvSpPr/>
          <p:nvPr userDrawn="1"/>
        </p:nvSpPr>
        <p:spPr>
          <a:xfrm>
            <a:off x="0" y="6757162"/>
            <a:ext cx="12192000" cy="100838"/>
          </a:xfrm>
          <a:prstGeom prst="rect">
            <a:avLst/>
          </a:prstGeom>
          <a:solidFill>
            <a:srgbClr val="22B2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4" y="6259416"/>
            <a:ext cx="1920804" cy="490059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11732857" y="6467317"/>
            <a:ext cx="3353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fld id="{AF3AA542-DB4C-461E-BDD9-16882CC060AE}" type="slidenum">
              <a:rPr lang="en-US" smtClean="0" sz="1000">
                <a:solidFill>
                  <a:schemeClr val="bg1">
                    <a:lumMod val="50000"/>
                  </a:schemeClr>
                </a:solidFill>
                <a:latin charset="0" panose="020F0502020204030204" pitchFamily="34" typeface="Calibri"/>
                <a:cs charset="0" panose="020F0502020204030204" pitchFamily="34" typeface="Calibri"/>
              </a:rPr>
              <a:pPr lvl="0"/>
              <a:t>‹#›</a:t>
            </a:fld>
            <a:endParaRPr lang="en-US" sz="1000">
              <a:solidFill>
                <a:schemeClr val="bg1">
                  <a:lumMod val="50000"/>
                </a:schemeClr>
              </a:solidFill>
              <a:latin charset="0" panose="020F0502020204030204" pitchFamily="34" typeface="Calibri"/>
              <a:cs charset="0" panose="020F0502020204030204" pitchFamily="34" typeface="Calibri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3CA696A-D6FC-B64A-8FBB-CAAE423A63BE}"/>
              </a:ext>
            </a:extLst>
          </p:cNvPr>
          <p:cNvSpPr txBox="1">
            <a:spLocks/>
          </p:cNvSpPr>
          <p:nvPr userDrawn="1"/>
        </p:nvSpPr>
        <p:spPr>
          <a:xfrm>
            <a:off x="4077256" y="6570532"/>
            <a:ext cx="4061081" cy="2326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 lnSpcReduction="10000"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kern="1200" sz="40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100"/>
              <a:t>CONFIDENTIAL – RDK Management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" y="1018050"/>
            <a:ext cx="2904231" cy="68580"/>
          </a:xfrm>
          <a:prstGeom prst="rect">
            <a:avLst/>
          </a:prstGeom>
          <a:solidFill>
            <a:srgbClr val="42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3095923" y="1018279"/>
            <a:ext cx="2904231" cy="68580"/>
          </a:xfrm>
          <a:prstGeom prst="rect">
            <a:avLst/>
          </a:prstGeom>
          <a:solidFill>
            <a:srgbClr val="FFC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191847" y="1020027"/>
            <a:ext cx="2904231" cy="685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287770" y="1018280"/>
            <a:ext cx="2904231" cy="68580"/>
          </a:xfrm>
          <a:prstGeom prst="rect">
            <a:avLst/>
          </a:prstGeom>
          <a:solidFill>
            <a:srgbClr val="F27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</p:spTree>
    <p:extLst>
      <p:ext uri="{BB962C8B-B14F-4D97-AF65-F5344CB8AC3E}">
        <p14:creationId xmlns:p14="http://schemas.microsoft.com/office/powerpoint/2010/main" val="2233581214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51" r:id="rId1"/>
    <p:sldLayoutId id="2147483650" r:id="rId2"/>
    <p:sldLayoutId id="2147483654" r:id="rId3"/>
    <p:sldLayoutId id="2147483655" r:id="rId4"/>
    <p:sldLayoutId id="2147483657" r:id="rId8"/>
    <p:sldLayoutId id="2147483656" r:id="rId7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00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CodeQL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Daniel Soden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April 28,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95C9-FBBD-4F47-B847-14EE89DF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6263431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CodeQL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CodeQL?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CodeQL is a semantic code analysis tool acquired by GitHub, created by Semmle.</a:t>
            </a:r>
          </a:p>
          <a:p>
            <a:pPr lvl="0"/>
            <a:r>
              <a:rPr/>
              <a:t>Allows developers and security researchers to write queries, find bugs, vulnerabilities, and code-quality issues.</a:t>
            </a:r>
          </a:p>
          <a:p>
            <a:pPr lvl="0"/>
            <a:r>
              <a:rPr/>
              <a:t>CodeQL has two states on a repo: Default Configuration and Advanced (Custom) configuration.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Default vs Advanced Configuration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1193800"/>
          <a:ext cx="11442700" cy="535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Advanced 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 Options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suite, Runner type, Threat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CodeQL.yml file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Suites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 or extended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suite, including security-experimental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Little setup effort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Requires exhaustive custom yml with build steps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95C9-FBBD-4F47-B847-14EE89DF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6263431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Rollout Phases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1 — Default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CodeQL is enabled by default on all public repositories — no configuration needed.</a:t>
            </a:r>
          </a:p>
          <a:p>
            <a:pPr lvl="0"/>
            <a:r>
              <a:rPr/>
              <a:t>For private repositories, CodeQL must be set up manually and requires additional costs.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2 — Extended Suite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Security extended includes:</a:t>
            </a:r>
          </a:p>
          <a:p>
            <a:pPr lvl="1"/>
            <a:r>
              <a:rPr/>
              <a:t>Additional low precision and low severity queries</a:t>
            </a:r>
          </a:p>
          <a:p>
            <a:pPr lvl="1"/>
            <a:r>
              <a:rPr/>
              <a:t>Experimental queries</a:t>
            </a:r>
          </a:p>
          <a:p>
            <a:pPr lvl="0"/>
            <a:r>
              <a:rPr/>
              <a:t>Broader coverage of potential vulnerabilities than the default suite.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 on Extended and Advanced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produce a large number of alerts, including false positives.</a:t>
            </a:r>
          </a:p>
          <a:p>
            <a:pPr lvl="0"/>
            <a:r>
              <a:rPr/>
              <a:t>Code owners decide whether to dismiss alerts.</a:t>
            </a:r>
          </a:p>
          <a:p>
            <a:pPr lvl="0"/>
            <a:r>
              <a:rPr/>
              <a:t>String operations, library calls, and typing are more likely to be flagged — even if not exploitable in practice.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Will We Implement the Extended Suite?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Add code scanning endpoints for:</a:t>
            </a:r>
          </a:p>
          <a:p>
            <a:pPr lvl="1"/>
            <a:r>
              <a:rPr/>
              <a:t>Editing Default configuration</a:t>
            </a:r>
          </a:p>
          <a:p>
            <a:pPr lvl="1"/>
            <a:r>
              <a:rPr/>
              <a:t>Getting Default configuration</a:t>
            </a:r>
          </a:p>
          <a:p>
            <a:pPr lvl="0"/>
            <a:r>
              <a:rPr/>
              <a:t>Record metadata for the default and extended configuration.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95C9-FBBD-4F47-B847-14EE89DF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6263431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Metadata for CodeQL Configuration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Disabled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"codeql"</a:t>
            </a:r>
            <a:r>
              <a:rPr b="1">
                <a:solidFill>
                  <a:srgbClr val="FF000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"disabled"</a:t>
            </a:r>
          </a:p>
          <a:p>
            <a:pPr lvl="0" indent="0" marL="0">
              <a:buNone/>
            </a:pPr>
            <a:r>
              <a:rPr/>
              <a:t>CodeQL is not enabled — no code scanning will be performed.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"codeql"</a:t>
            </a:r>
            <a:r>
              <a:rPr b="1">
                <a:solidFill>
                  <a:srgbClr val="FF000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"default"</a:t>
            </a:r>
          </a:p>
          <a:p>
            <a:pPr lvl="0" indent="0" marL="0">
              <a:buNone/>
            </a:pPr>
            <a:r>
              <a:rPr/>
              <a:t>CodeQL is enabled with the default configuration and default query suite.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Extended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"codeql"</a:t>
            </a:r>
            <a:r>
              <a:rPr b="1">
                <a:solidFill>
                  <a:srgbClr val="FF000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"extended"</a:t>
            </a:r>
          </a:p>
          <a:p>
            <a:pPr lvl="0" indent="0" marL="0">
              <a:buNone/>
            </a:pPr>
            <a:r>
              <a:rPr/>
              <a:t>CodeQL is enabled with the default configuration and security-extended query suite.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"codeql"</a:t>
            </a:r>
            <a:r>
              <a:rPr b="1">
                <a:solidFill>
                  <a:srgbClr val="FF000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"advanced"</a:t>
            </a:r>
          </a:p>
          <a:p>
            <a:pPr lvl="0" indent="0" marL="0">
              <a:buNone/>
            </a:pPr>
            <a:r>
              <a:rPr/>
              <a:t>CodeQL uses a custom </a:t>
            </a:r>
            <a:r>
              <a:rPr>
                <a:latin typeface="Courier"/>
              </a:rPr>
              <a:t>codeql.yml</a:t>
            </a:r>
            <a:r>
              <a:rPr/>
              <a:t> configuration. In the get request, codeql will be </a:t>
            </a:r>
            <a:r>
              <a:rPr>
                <a:latin typeface="Courier"/>
              </a:rPr>
              <a:t>not-configured</a:t>
            </a:r>
            <a:r>
              <a:rPr/>
              <a:t>, but Code Scanning UI will show code issues.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95C9-FBBD-4F47-B847-14EE89DF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6263431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Phase 3 — Advanced Configuration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Advanced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Repository maintainers will automatically use the custom CodeQL configuration via </a:t>
            </a:r>
            <a:r>
              <a:rPr>
                <a:latin typeface="Courier"/>
              </a:rPr>
              <a:t>codeql-caller.yml</a:t>
            </a:r>
            <a:r>
              <a:rPr/>
              <a:t>, which calls </a:t>
            </a:r>
            <a:r>
              <a:rPr>
                <a:latin typeface="Courier"/>
              </a:rPr>
              <a:t>codeql-ccp-common.yml</a:t>
            </a:r>
            <a:r>
              <a:rPr/>
              <a:t> from build_tools_workflows.</a:t>
            </a:r>
          </a:p>
          <a:p>
            <a:pPr lvl="0"/>
            <a:r>
              <a:rPr/>
              <a:t>This greatly increases the number of code issues found — code owners must triage and manage alerts.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Next steps: push endpoint changes live, record metadata, and start rollout of the extended suite to all public repositories.</a:t>
            </a:r>
          </a:p>
          <a:p>
            <a:pPr lvl="0"/>
            <a:r>
              <a:rPr/>
              <a:t>Scripts have been created to aid in this process and will be shared with the team.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DEC9B54-F34E-4EE1-9E57-D1E9C787AC02}" vid="{E8221FFC-3C89-4446-83CE-300989DB51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3708</Words>
  <Application>Microsoft Macintosh PowerPoint</Application>
  <PresentationFormat>Widescreen</PresentationFormat>
  <Paragraphs>611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Arial Rounded MT Bold</vt:lpstr>
      <vt:lpstr>Calibri</vt:lpstr>
      <vt:lpstr>Consolas</vt:lpstr>
      <vt:lpstr>Courier New</vt:lpstr>
      <vt:lpstr>XFINITY Standard</vt:lpstr>
      <vt:lpstr>Office Theme</vt:lpstr>
      <vt:lpstr>CMF On Boarding</vt:lpstr>
      <vt:lpstr>Overview</vt:lpstr>
      <vt:lpstr>RDKM Leadership Team</vt:lpstr>
      <vt:lpstr>RDKM Engineering Operations</vt:lpstr>
      <vt:lpstr>RDKM CMF Organisation</vt:lpstr>
      <vt:lpstr>Code Management Facility</vt:lpstr>
      <vt:lpstr>Code Management Functions</vt:lpstr>
      <vt:lpstr>CMF Onboarding</vt:lpstr>
      <vt:lpstr>CMF Onboarding</vt:lpstr>
      <vt:lpstr>Gerrit &amp; GitHub Setup</vt:lpstr>
      <vt:lpstr>Gerrit &amp; GitHub Setup</vt:lpstr>
      <vt:lpstr>Gerrit and GitHub Setup</vt:lpstr>
      <vt:lpstr>CMF Jenkins Instances</vt:lpstr>
      <vt:lpstr>Jenkins Setup</vt:lpstr>
      <vt:lpstr>CMF Internal Repositories</vt:lpstr>
      <vt:lpstr>Python &amp; Pyenv</vt:lpstr>
      <vt:lpstr>Jenkins Job &amp; Manual Script Workflow</vt:lpstr>
      <vt:lpstr>Key CMF Tools Repos</vt:lpstr>
      <vt:lpstr>Environment Setup</vt:lpstr>
      <vt:lpstr>Setting up a cmflib pyenv</vt:lpstr>
      <vt:lpstr>Setting up a cmf/tools pyenv workspace</vt:lpstr>
      <vt:lpstr>Working with cmf/tools</vt:lpstr>
      <vt:lpstr>Working with cmf/tools</vt:lpstr>
      <vt:lpstr>Builds &amp; CI</vt:lpstr>
      <vt:lpstr>Contributing Code </vt:lpstr>
      <vt:lpstr>Create a Gerrit Patchset/Review</vt:lpstr>
      <vt:lpstr>Update a Gerrit Review in a new clone</vt:lpstr>
      <vt:lpstr>Create a Github PR</vt:lpstr>
      <vt:lpstr>Development Process</vt:lpstr>
      <vt:lpstr>AWS CLI Setup and Getting a CMF Build Machine Instance</vt:lpstr>
      <vt:lpstr>Github &amp; Gerrit Metadata</vt:lpstr>
      <vt:lpstr>Create a Github PR on rdkcentral/metadata</vt:lpstr>
      <vt:lpstr>Create a Gerrit Review on cmf/metadata</vt:lpstr>
      <vt:lpstr>DSL Overview</vt:lpstr>
      <vt:lpstr>Community Jenkins DSL </vt:lpstr>
      <vt:lpstr>Internal Jenkins DSL </vt:lpstr>
      <vt:lpstr>RDKM Jenkins DSL </vt:lpstr>
      <vt:lpstr>Setting up a DSL workspace</vt:lpstr>
      <vt:lpstr>DSL API</vt:lpstr>
      <vt:lpstr>CMF Support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CodeQL</dc:title>
  <dc:creator>Daniel Soden</dc:creator>
  <cp:keywords/>
  <dcterms:created xsi:type="dcterms:W3CDTF">2026-04-29T15:42:28Z</dcterms:created>
  <dcterms:modified xsi:type="dcterms:W3CDTF">2026-04-29T15:42:28Z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April 28, 2026</vt:lpwstr>
  </property>
</Properties>
</file>