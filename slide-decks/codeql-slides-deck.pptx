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 showSpecialPlsOnTitleSld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12192000" cy="6858000"/>
  <p:notesSz cx="6858000" cy="92964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BABAB"/>
    <a:srgbClr val="FF0003"/>
    <a:srgbClr val="000000"/>
    <a:srgbClr val="42B4E6"/>
    <a:srgbClr val="76B900"/>
    <a:srgbClr val="F27E3D"/>
    <a:srgbClr val="FFC726"/>
    <a:srgbClr val="FBBA43"/>
    <a:srgbClr val="FEB739"/>
    <a:srgbClr val="F6B1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6523"/>
    <p:restoredTop sz="94688"/>
  </p:normalViewPr>
  <p:slideViewPr>
    <p:cSldViewPr snapToGrid="0">
      <p:cViewPr varScale="1">
        <p:scale>
          <a:sx d="100" n="116"/>
          <a:sy d="100" n="116"/>
        </p:scale>
        <p:origin x="608" y="184"/>
      </p:cViewPr>
      <p:guideLst>
        <p:guide orient="horz" pos="2160"/>
        <p:guide pos="3840"/>
      </p:guideLst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5" Type="http://schemas.openxmlformats.org/officeDocument/2006/relationships/slide" Target="slides/slide1.xml" /><Relationship Id="rId6" Type="http://schemas.openxmlformats.org/officeDocument/2006/relationships/slide" Target="slides/slide2.xml" /><Relationship Id="rId7" Type="http://schemas.openxmlformats.org/officeDocument/2006/relationships/slide" Target="slides/slide3.xml" /><Relationship Id="rId8" Type="http://schemas.openxmlformats.org/officeDocument/2006/relationships/slide" Target="slides/slide4.xml" /><Relationship Id="rId9" Type="http://schemas.openxmlformats.org/officeDocument/2006/relationships/slide" Target="slides/slide5.xml" /><Relationship Id="rId10" Type="http://schemas.openxmlformats.org/officeDocument/2006/relationships/slide" Target="slides/slide6.xml" /><Relationship Id="rId11" Type="http://schemas.openxmlformats.org/officeDocument/2006/relationships/slide" Target="slides/slide7.xml" /><Relationship Id="rId12" Type="http://schemas.openxmlformats.org/officeDocument/2006/relationships/slide" Target="slides/slide8.xml" /><Relationship Id="rId13" Type="http://schemas.openxmlformats.org/officeDocument/2006/relationships/slide" Target="slides/slide9.xml" /><Relationship Id="rId14" Type="http://schemas.openxmlformats.org/officeDocument/2006/relationships/slide" Target="slides/slide10.xml" /><Relationship Id="rId15" Type="http://schemas.openxmlformats.org/officeDocument/2006/relationships/slide" Target="slides/slide11.xml" /><Relationship Id="rId16" Type="http://schemas.openxmlformats.org/officeDocument/2006/relationships/slide" Target="slides/slide12.xml" /><Relationship Id="rId17" Type="http://schemas.openxmlformats.org/officeDocument/2006/relationships/slide" Target="slides/slide13.xml" /><Relationship Id="rId18" Type="http://schemas.openxmlformats.org/officeDocument/2006/relationships/slide" Target="slides/slide14.xml" /><Relationship Id="rId19" Type="http://schemas.openxmlformats.org/officeDocument/2006/relationships/slide" Target="slides/slide15.xml" /><Relationship Id="rId20" Type="http://schemas.openxmlformats.org/officeDocument/2006/relationships/slide" Target="slides/slide16.xml" /><Relationship Id="rId21" Type="http://schemas.openxmlformats.org/officeDocument/2006/relationships/slide" Target="slides/slide17.xml" /><Relationship Id="rId23" Type="http://schemas.openxmlformats.org/officeDocument/2006/relationships/presProps" Target="presProps.xml" /><Relationship Id="rId26" Type="http://schemas.openxmlformats.org/officeDocument/2006/relationships/tableStyles" Target="tableStyles.xml" /><Relationship Id="rId2" Type="http://schemas.openxmlformats.org/officeDocument/2006/relationships/customXml" Target="../customXml/item2.xml" /><Relationship Id="rId25" Type="http://schemas.openxmlformats.org/officeDocument/2006/relationships/theme" Target="theme/theme1.xml" /><Relationship Id="rId4" Type="http://schemas.openxmlformats.org/officeDocument/2006/relationships/slideMaster" Target="slideMasters/slideMaster1.xml" /><Relationship Id="rId24" Type="http://schemas.openxmlformats.org/officeDocument/2006/relationships/viewProps" Target="viewProps.xml" /><Relationship Id="rId27" Type="http://schemas.microsoft.com/office/2015/10/relationships/revisionInfo" Target="revisionInfo.xml" /><Relationship Id="rId3" Type="http://schemas.openxmlformats.org/officeDocument/2006/relationships/customXml" Target="../customXml/item3.xml" /><Relationship Id="rId22" Type="http://schemas.openxmlformats.org/officeDocument/2006/relationships/commentAuthors" Target="commentAuthors.xml" /><Relationship Id="rId1" Type="http://schemas.openxmlformats.org/officeDocument/2006/relationships/customXml" Target="../customXml/item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2E6BB-FCD0-9847-AD93-F54A01EEB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AD091-BCF4-4B4D-AC92-B57945881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" y="1018050"/>
            <a:ext cx="2904231" cy="68580"/>
          </a:xfrm>
          <a:prstGeom prst="rect">
            <a:avLst/>
          </a:prstGeom>
          <a:solidFill>
            <a:srgbClr val="42B4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latin typeface="Arial Rounded MT Bold" panose="020F0704030504030204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3095923" y="1018279"/>
            <a:ext cx="2904231" cy="68580"/>
          </a:xfrm>
          <a:prstGeom prst="rect">
            <a:avLst/>
          </a:prstGeom>
          <a:solidFill>
            <a:srgbClr val="FFC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latin typeface="Arial Rounded MT Bold" panose="020F0704030504030204" pitchFamily="34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6191847" y="1020027"/>
            <a:ext cx="2904231" cy="6858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latin typeface="Arial Rounded MT Bold" panose="020F0704030504030204" pitchFamily="34" charset="0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9287770" y="1018280"/>
            <a:ext cx="2904231" cy="68580"/>
          </a:xfrm>
          <a:prstGeom prst="rect">
            <a:avLst/>
          </a:prstGeom>
          <a:solidFill>
            <a:srgbClr val="F27E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6522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arget="../slideLayouts/slideLayout3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media/image1.png" Type="http://schemas.openxmlformats.org/officeDocument/2006/relationships/image" /><Relationship Id="rId5" Target="../theme/theme1.xml" Type="http://schemas.openxmlformats.org/officeDocument/2006/relationships/theme" /><Relationship Id="rId4" Target="../slideLayouts/slideLayout4.xml" Type="http://schemas.openxmlformats.org/officeDocument/2006/relationships/slideLayout" /><Relationship Id="rId8" Target="../slideLayouts/slideLayout5.xml" Type="http://schemas.openxmlformats.org/officeDocument/2006/relationships/slideLayout" /><Relationship Id="rId7" Target="../slideLayouts/slideLayout8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CA696A-D6FC-B64A-8FBB-CAAE423A6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965" y="365126"/>
            <a:ext cx="11451665" cy="645238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347B8B-1BB9-4A49-9527-01F841AF860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381965" y="1196994"/>
            <a:ext cx="11451665" cy="5365851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5FCA21-F1CE-8243-8FFE-DAE61EC934CC}"/>
              </a:ext>
            </a:extLst>
          </p:cNvPr>
          <p:cNvSpPr/>
          <p:nvPr userDrawn="1"/>
        </p:nvSpPr>
        <p:spPr>
          <a:xfrm>
            <a:off x="0" y="6757162"/>
            <a:ext cx="12192000" cy="100838"/>
          </a:xfrm>
          <a:prstGeom prst="rect">
            <a:avLst/>
          </a:prstGeom>
          <a:solidFill>
            <a:srgbClr val="22B2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24" y="6259416"/>
            <a:ext cx="1920804" cy="490059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11732857" y="6467317"/>
            <a:ext cx="33534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fld id="{AF3AA542-DB4C-461E-BDD9-16882CC060AE}" type="slidenum">
              <a:rPr lang="en-US" smtClean="0" sz="1000">
                <a:solidFill>
                  <a:schemeClr val="bg1">
                    <a:lumMod val="50000"/>
                  </a:schemeClr>
                </a:solidFill>
                <a:latin charset="0" panose="020F0502020204030204" pitchFamily="34" typeface="Calibri"/>
                <a:cs charset="0" panose="020F0502020204030204" pitchFamily="34" typeface="Calibri"/>
              </a:rPr>
              <a:pPr lvl="0"/>
              <a:t>‹#›</a:t>
            </a:fld>
            <a:endParaRPr lang="en-US" sz="1000">
              <a:solidFill>
                <a:schemeClr val="bg1">
                  <a:lumMod val="50000"/>
                </a:schemeClr>
              </a:solidFill>
              <a:latin charset="0" panose="020F0502020204030204" pitchFamily="34" typeface="Calibri"/>
              <a:cs charset="0" panose="020F0502020204030204" pitchFamily="34" typeface="Calibri"/>
            </a:endParaRP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3CA696A-D6FC-B64A-8FBB-CAAE423A63BE}"/>
              </a:ext>
            </a:extLst>
          </p:cNvPr>
          <p:cNvSpPr txBox="1">
            <a:spLocks/>
          </p:cNvSpPr>
          <p:nvPr userDrawn="1"/>
        </p:nvSpPr>
        <p:spPr>
          <a:xfrm>
            <a:off x="4077256" y="6570532"/>
            <a:ext cx="4061081" cy="232605"/>
          </a:xfrm>
          <a:prstGeom prst="rect">
            <a:avLst/>
          </a:prstGeom>
        </p:spPr>
        <p:txBody>
          <a:bodyPr anchor="ctr" bIns="45720" lIns="91440" rIns="91440" rtlCol="0" tIns="45720" vert="horz">
            <a:normAutofit lnSpcReduction="10000"/>
          </a:bodyPr>
          <a:lstStyle>
            <a:lvl1pPr algn="l" defTabSz="914400" eaLnBrk="1" hangingPunct="1" latinLnBrk="0" rtl="0">
              <a:lnSpc>
                <a:spcPct val="90000"/>
              </a:lnSpc>
              <a:spcBef>
                <a:spcPct val="0"/>
              </a:spcBef>
              <a:buNone/>
              <a:defRPr kern="1200" sz="400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100"/>
              <a:t>CONFIDENTIAL – RDK Management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1" y="1018050"/>
            <a:ext cx="2904231" cy="68580"/>
          </a:xfrm>
          <a:prstGeom prst="rect">
            <a:avLst/>
          </a:prstGeom>
          <a:solidFill>
            <a:srgbClr val="42B4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 sz="675">
              <a:latin charset="0" panose="020F0704030504030204" pitchFamily="34" typeface="Arial Rounded MT Bold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3095923" y="1018279"/>
            <a:ext cx="2904231" cy="68580"/>
          </a:xfrm>
          <a:prstGeom prst="rect">
            <a:avLst/>
          </a:prstGeom>
          <a:solidFill>
            <a:srgbClr val="FFC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 sz="675">
              <a:latin charset="0" panose="020F0704030504030204" pitchFamily="34" typeface="Arial Rounded MT Bold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6191847" y="1020027"/>
            <a:ext cx="2904231" cy="6858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 sz="675">
              <a:latin charset="0" panose="020F0704030504030204" pitchFamily="34" typeface="Arial Rounded MT Bold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287770" y="1018280"/>
            <a:ext cx="2904231" cy="68580"/>
          </a:xfrm>
          <a:prstGeom prst="rect">
            <a:avLst/>
          </a:prstGeom>
          <a:solidFill>
            <a:srgbClr val="F27E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 sz="675">
              <a:latin charset="0" panose="020F0704030504030204" pitchFamily="34" typeface="Arial Rounded MT Bold"/>
            </a:endParaRPr>
          </a:p>
        </p:txBody>
      </p:sp>
    </p:spTree>
    <p:extLst>
      <p:ext uri="{BB962C8B-B14F-4D97-AF65-F5344CB8AC3E}">
        <p14:creationId xmlns:p14="http://schemas.microsoft.com/office/powerpoint/2010/main" val="2233581214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51" r:id="rId1"/>
    <p:sldLayoutId id="2147483650" r:id="rId2"/>
    <p:sldLayoutId id="2147483654" r:id="rId3"/>
    <p:sldLayoutId id="2147483655" r:id="rId4"/>
    <p:sldLayoutId id="2147483657" r:id="rId8"/>
    <p:sldLayoutId id="2147483656" r:id="rId7"/>
  </p:sldLayoutIdLst>
  <p:hf dt="0" hdr="0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000">
          <a:solidFill>
            <a:schemeClr val="bg2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 to CodeQL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Daniel Soden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April 28,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CodeQL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2E6BB-FCD0-9847-AD93-F54A01EEB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CodeQL?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AD091-BCF4-4B4D-AC92-B57945881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CodeQL is a semantic code analysis tool acquired by GitHub, created by Semmle.</a:t>
            </a:r>
          </a:p>
          <a:p>
            <a:pPr lvl="0"/>
            <a:r>
              <a:rPr/>
              <a:t>Allows developers and security researchers to write queries, find bugs, vulnerabilities, and code-quality issues.</a:t>
            </a:r>
          </a:p>
          <a:p>
            <a:pPr lvl="0"/>
            <a:r>
              <a:rPr/>
              <a:t>CodeQL has two states on a repo: Default Configuration and Advanced (Custom) configuration.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2E6BB-FCD0-9847-AD93-F54A01EEB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Default vs Advanced Configuration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81000" y="1193800"/>
          <a:ext cx="11442700" cy="535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Default 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Advanced Configuration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Configuration Options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Query suite, Runner type, Threat Model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CodeQL.yml file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Query Suites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Default or extended only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Any suite, including security-experimental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Setup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Little setup effort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Requires exhaustive custom yml with build steps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Rollout Phases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2E6BB-FCD0-9847-AD93-F54A01EEB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Phase 1 — Default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AD091-BCF4-4B4D-AC92-B57945881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CodeQL is enabled by default on all public repositories — no configuration needed.</a:t>
            </a:r>
          </a:p>
          <a:p>
            <a:pPr lvl="0"/>
            <a:r>
              <a:rPr/>
              <a:t>For private repositories, CodeQL must be set up manually and requires additional costs.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2E6BB-FCD0-9847-AD93-F54A01EEB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Phase 2 — Extended Suite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AD091-BCF4-4B4D-AC92-B57945881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Security extended includes:</a:t>
            </a:r>
          </a:p>
          <a:p>
            <a:pPr lvl="1"/>
            <a:r>
              <a:rPr/>
              <a:t>Additional low precision and low severity queries</a:t>
            </a:r>
          </a:p>
          <a:p>
            <a:pPr lvl="1"/>
            <a:r>
              <a:rPr/>
              <a:t>Experimental queries</a:t>
            </a:r>
          </a:p>
          <a:p>
            <a:pPr lvl="0"/>
            <a:r>
              <a:rPr/>
              <a:t>Broader coverage of potential vulnerabilities than the default suite.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2E6BB-FCD0-9847-AD93-F54A01EEB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Notes on Extended and Advanced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AD091-BCF4-4B4D-AC92-B57945881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Can produce a large number of alerts, including false positives.</a:t>
            </a:r>
          </a:p>
          <a:p>
            <a:pPr lvl="0"/>
            <a:r>
              <a:rPr/>
              <a:t>Code owners decide whether to dismiss alerts.</a:t>
            </a:r>
          </a:p>
          <a:p>
            <a:pPr lvl="0"/>
            <a:r>
              <a:rPr/>
              <a:t>String operations, library calls, and typing are more likely to be flagged — even if not exploitable in practice.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2E6BB-FCD0-9847-AD93-F54A01EEB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Will We Implement the Extended Suite?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AD091-BCF4-4B4D-AC92-B57945881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Add code scanning endpoints for:</a:t>
            </a:r>
          </a:p>
          <a:p>
            <a:pPr lvl="1"/>
            <a:r>
              <a:rPr/>
              <a:t>Editing Default configuration</a:t>
            </a:r>
          </a:p>
          <a:p>
            <a:pPr lvl="1"/>
            <a:r>
              <a:rPr/>
              <a:t>Getting Default configuration</a:t>
            </a:r>
          </a:p>
          <a:p>
            <a:pPr lvl="0"/>
            <a:r>
              <a:rPr/>
              <a:t>Record metadata for the default and extended configuration.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Metadata for CodeQL Configuration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2E6BB-FCD0-9847-AD93-F54A01EEB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Disabled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AD091-BCF4-4B4D-AC92-B57945881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070A0"/>
                </a:solidFill>
                <a:latin typeface="Courier"/>
              </a:rPr>
              <a:t>"codeql"</a:t>
            </a:r>
            <a:r>
              <a:rPr b="1">
                <a:solidFill>
                  <a:srgbClr val="FF0000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"disabled"</a:t>
            </a:r>
          </a:p>
          <a:p>
            <a:pPr lvl="0" indent="0" marL="0">
              <a:buNone/>
            </a:pPr>
            <a:r>
              <a:rPr/>
              <a:t>CodeQL is not enabled — no code scanning will be performed.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2E6BB-FCD0-9847-AD93-F54A01EEB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Default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AD091-BCF4-4B4D-AC92-B57945881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070A0"/>
                </a:solidFill>
                <a:latin typeface="Courier"/>
              </a:rPr>
              <a:t>"codeql"</a:t>
            </a:r>
            <a:r>
              <a:rPr b="1">
                <a:solidFill>
                  <a:srgbClr val="FF0000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"default"</a:t>
            </a:r>
          </a:p>
          <a:p>
            <a:pPr lvl="0" indent="0" marL="0">
              <a:buNone/>
            </a:pPr>
            <a:r>
              <a:rPr/>
              <a:t>CodeQL is enabled with the default configuration and default query suite.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2E6BB-FCD0-9847-AD93-F54A01EEB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Extended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AD091-BCF4-4B4D-AC92-B57945881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070A0"/>
                </a:solidFill>
                <a:latin typeface="Courier"/>
              </a:rPr>
              <a:t>"codeql"</a:t>
            </a:r>
            <a:r>
              <a:rPr b="1">
                <a:solidFill>
                  <a:srgbClr val="FF0000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"extended"</a:t>
            </a:r>
          </a:p>
          <a:p>
            <a:pPr lvl="0" indent="0" marL="0">
              <a:buNone/>
            </a:pPr>
            <a:r>
              <a:rPr/>
              <a:t>CodeQL is enabled with the default configuration and security-extended query suite.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2E6BB-FCD0-9847-AD93-F54A01EEB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Advanced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AD091-BCF4-4B4D-AC92-B57945881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070A0"/>
                </a:solidFill>
                <a:latin typeface="Courier"/>
              </a:rPr>
              <a:t>"codeql"</a:t>
            </a:r>
            <a:r>
              <a:rPr b="1">
                <a:solidFill>
                  <a:srgbClr val="FF0000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"advanced"</a:t>
            </a:r>
          </a:p>
          <a:p>
            <a:pPr lvl="0" indent="0" marL="0">
              <a:buNone/>
            </a:pPr>
            <a:r>
              <a:rPr/>
              <a:t>CodeQL uses a custom </a:t>
            </a:r>
            <a:r>
              <a:rPr>
                <a:latin typeface="Courier"/>
              </a:rPr>
              <a:t>codeql.yml</a:t>
            </a:r>
            <a:r>
              <a:rPr/>
              <a:t> configuration. In the get request, codeql will be </a:t>
            </a:r>
            <a:r>
              <a:rPr>
                <a:latin typeface="Courier"/>
              </a:rPr>
              <a:t>not-configured</a:t>
            </a:r>
            <a:r>
              <a:rPr/>
              <a:t>, but Code Scanning UI will show code issues.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Phase 3 — Advanced Configuration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2E6BB-FCD0-9847-AD93-F54A01EEB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Advanced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AD091-BCF4-4B4D-AC92-B57945881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Repository maintainers will automatically use the custom CodeQL configuration via </a:t>
            </a:r>
            <a:r>
              <a:rPr>
                <a:latin typeface="Courier"/>
              </a:rPr>
              <a:t>codeql-caller.yml</a:t>
            </a:r>
            <a:r>
              <a:rPr/>
              <a:t>, which calls </a:t>
            </a:r>
            <a:r>
              <a:rPr>
                <a:latin typeface="Courier"/>
              </a:rPr>
              <a:t>codeql-ccp-common.yml</a:t>
            </a:r>
            <a:r>
              <a:rPr/>
              <a:t> from build_tools_workflows.</a:t>
            </a:r>
          </a:p>
          <a:p>
            <a:pPr lvl="0"/>
            <a:r>
              <a:rPr/>
              <a:t>This greatly increases the number of code issues found — code owners must triage and manage alerts.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2E6BB-FCD0-9847-AD93-F54A01EEB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AD091-BCF4-4B4D-AC92-B57945881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Next steps: push endpoint changes live, record metadata, and start rollout of the extended suite to all public repositories.</a:t>
            </a:r>
          </a:p>
          <a:p>
            <a:pPr lvl="0"/>
            <a:r>
              <a:rPr/>
              <a:t>Scripts have been created to aid in this process and will be shared with the team.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ADEC9B54-F34E-4EE1-9E57-D1E9C787AC02}" vid="{E8221FFC-3C89-4446-83CE-300989DB51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3708</Words>
  <Application>Microsoft Macintosh PowerPoint</Application>
  <PresentationFormat>Widescreen</PresentationFormat>
  <Paragraphs>611</Paragraphs>
  <Slides>40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Arial</vt:lpstr>
      <vt:lpstr>Arial Rounded MT Bold</vt:lpstr>
      <vt:lpstr>Calibri</vt:lpstr>
      <vt:lpstr>Consolas</vt:lpstr>
      <vt:lpstr>Courier New</vt:lpstr>
      <vt:lpstr>XFINITY Standard</vt:lpstr>
      <vt:lpstr>Office Theme</vt:lpstr>
      <vt:lpstr>CMF On Boarding</vt:lpstr>
      <vt:lpstr>Overview</vt:lpstr>
      <vt:lpstr>RDKM Leadership Team</vt:lpstr>
      <vt:lpstr>RDKM Engineering Operations</vt:lpstr>
      <vt:lpstr>RDKM CMF Organisation</vt:lpstr>
      <vt:lpstr>Code Management Facility</vt:lpstr>
      <vt:lpstr>Code Management Functions</vt:lpstr>
      <vt:lpstr>CMF Onboarding</vt:lpstr>
      <vt:lpstr>CMF Onboarding</vt:lpstr>
      <vt:lpstr>Gerrit &amp; GitHub Setup</vt:lpstr>
      <vt:lpstr>Gerrit &amp; GitHub Setup</vt:lpstr>
      <vt:lpstr>Gerrit and GitHub Setup</vt:lpstr>
      <vt:lpstr>CMF Jenkins Instances</vt:lpstr>
      <vt:lpstr>Jenkins Setup</vt:lpstr>
      <vt:lpstr>CMF Internal Repositories</vt:lpstr>
      <vt:lpstr>Python &amp; Pyenv</vt:lpstr>
      <vt:lpstr>Jenkins Job &amp; Manual Script Workflow</vt:lpstr>
      <vt:lpstr>Key CMF Tools Repos</vt:lpstr>
      <vt:lpstr>Environment Setup</vt:lpstr>
      <vt:lpstr>Setting up a cmflib pyenv</vt:lpstr>
      <vt:lpstr>Setting up a cmf/tools pyenv workspace</vt:lpstr>
      <vt:lpstr>Working with cmf/tools</vt:lpstr>
      <vt:lpstr>Working with cmf/tools</vt:lpstr>
      <vt:lpstr>Builds &amp; CI</vt:lpstr>
      <vt:lpstr>Contributing Code </vt:lpstr>
      <vt:lpstr>Create a Gerrit Patchset/Review</vt:lpstr>
      <vt:lpstr>Update a Gerrit Review in a new clone</vt:lpstr>
      <vt:lpstr>Create a Github PR</vt:lpstr>
      <vt:lpstr>Development Process</vt:lpstr>
      <vt:lpstr>AWS CLI Setup and Getting a CMF Build Machine Instance</vt:lpstr>
      <vt:lpstr>Github &amp; Gerrit Metadata</vt:lpstr>
      <vt:lpstr>Create a Github PR on rdkcentral/metadata</vt:lpstr>
      <vt:lpstr>Create a Gerrit Review on cmf/metadata</vt:lpstr>
      <vt:lpstr>DSL Overview</vt:lpstr>
      <vt:lpstr>Community Jenkins DSL </vt:lpstr>
      <vt:lpstr>Internal Jenkins DSL </vt:lpstr>
      <vt:lpstr>RDKM Jenkins DSL </vt:lpstr>
      <vt:lpstr>Setting up a DSL workspace</vt:lpstr>
      <vt:lpstr>DSL API</vt:lpstr>
      <vt:lpstr>CMF Support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CodeQL</dc:title>
  <dc:creator>Daniel Soden</dc:creator>
  <cp:keywords/>
  <dcterms:created xsi:type="dcterms:W3CDTF">2026-04-29T16:18:26Z</dcterms:created>
  <dcterms:modified xsi:type="dcterms:W3CDTF">2026-04-29T16:18:26Z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April 28, 2026</vt:lpwstr>
  </property>
</Properties>
</file>